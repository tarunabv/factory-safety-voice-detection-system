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Garet Bold" charset="1" panose="00000000000000000000"/>
      <p:regular r:id="rId12"/>
    </p:embeddedFont>
    <p:embeddedFont>
      <p:font typeface="Garet" charset="1" panose="00000000000000000000"/>
      <p:regular r:id="rId13"/>
    </p:embeddedFont>
    <p:embeddedFont>
      <p:font typeface="Garet Light" charset="1" panose="00000000000000000000"/>
      <p:regular r:id="rId14"/>
    </p:embeddedFont>
    <p:embeddedFont>
      <p:font typeface="Archivo Black" charset="1" panose="020B0A03020202020B04"/>
      <p:regular r:id="rId15"/>
    </p:embeddedFont>
    <p:embeddedFont>
      <p:font typeface="Canva Sans Bold" charset="1" panose="020B0803030501040103"/>
      <p:regular r:id="rId16"/>
    </p:embeddedFont>
    <p:embeddedFont>
      <p:font typeface="Canva Sans" charset="1" panose="020B0503030501040103"/>
      <p:regular r:id="rId17"/>
    </p:embeddedFont>
    <p:embeddedFont>
      <p:font typeface="Canva Sans Italics" charset="1" panose="020B0503030501040103"/>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5379298" y="8311463"/>
            <a:ext cx="1880002" cy="946837"/>
          </a:xfrm>
          <a:custGeom>
            <a:avLst/>
            <a:gdLst/>
            <a:ahLst/>
            <a:cxnLst/>
            <a:rect r="r" b="b" t="t" l="l"/>
            <a:pathLst>
              <a:path h="946837" w="1880002">
                <a:moveTo>
                  <a:pt x="0" y="0"/>
                </a:moveTo>
                <a:lnTo>
                  <a:pt x="1880002" y="0"/>
                </a:lnTo>
                <a:lnTo>
                  <a:pt x="1880002" y="946837"/>
                </a:lnTo>
                <a:lnTo>
                  <a:pt x="0" y="9468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28700" y="1028700"/>
            <a:ext cx="797433" cy="707541"/>
          </a:xfrm>
          <a:custGeom>
            <a:avLst/>
            <a:gdLst/>
            <a:ahLst/>
            <a:cxnLst/>
            <a:rect r="r" b="b" t="t" l="l"/>
            <a:pathLst>
              <a:path h="707541" w="797433">
                <a:moveTo>
                  <a:pt x="0" y="0"/>
                </a:moveTo>
                <a:lnTo>
                  <a:pt x="797433" y="0"/>
                </a:lnTo>
                <a:lnTo>
                  <a:pt x="797433" y="707541"/>
                </a:lnTo>
                <a:lnTo>
                  <a:pt x="0" y="7075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1826133" y="6478493"/>
            <a:ext cx="3366096" cy="466725"/>
          </a:xfrm>
          <a:prstGeom prst="rect">
            <a:avLst/>
          </a:prstGeom>
        </p:spPr>
        <p:txBody>
          <a:bodyPr anchor="t" rtlCol="false" tIns="0" lIns="0" bIns="0" rIns="0">
            <a:spAutoFit/>
          </a:bodyPr>
          <a:lstStyle/>
          <a:p>
            <a:pPr algn="l" marL="0" indent="0" lvl="0">
              <a:lnSpc>
                <a:spcPts val="3899"/>
              </a:lnSpc>
              <a:spcBef>
                <a:spcPct val="0"/>
              </a:spcBef>
            </a:pPr>
            <a:r>
              <a:rPr lang="en-US" b="true" sz="2999">
                <a:solidFill>
                  <a:srgbClr val="2B2B2B"/>
                </a:solidFill>
                <a:latin typeface="Garet Bold"/>
                <a:ea typeface="Garet Bold"/>
                <a:cs typeface="Garet Bold"/>
                <a:sym typeface="Garet Bold"/>
              </a:rPr>
              <a:t>PRESENTED BY:</a:t>
            </a:r>
          </a:p>
        </p:txBody>
      </p:sp>
      <p:sp>
        <p:nvSpPr>
          <p:cNvPr name="TextBox 6" id="6"/>
          <p:cNvSpPr txBox="true"/>
          <p:nvPr/>
        </p:nvSpPr>
        <p:spPr>
          <a:xfrm rot="0">
            <a:off x="1826133" y="7072608"/>
            <a:ext cx="4336499" cy="1893642"/>
          </a:xfrm>
          <a:prstGeom prst="rect">
            <a:avLst/>
          </a:prstGeom>
        </p:spPr>
        <p:txBody>
          <a:bodyPr anchor="t" rtlCol="false" tIns="0" lIns="0" bIns="0" rIns="0">
            <a:spAutoFit/>
          </a:bodyPr>
          <a:lstStyle/>
          <a:p>
            <a:pPr algn="l">
              <a:lnSpc>
                <a:spcPts val="3096"/>
              </a:lnSpc>
            </a:pPr>
            <a:r>
              <a:rPr lang="en-US" sz="2382">
                <a:solidFill>
                  <a:srgbClr val="2B2B2B"/>
                </a:solidFill>
                <a:latin typeface="Garet"/>
                <a:ea typeface="Garet"/>
                <a:cs typeface="Garet"/>
                <a:sym typeface="Garet"/>
              </a:rPr>
              <a:t>Tarun B V</a:t>
            </a:r>
          </a:p>
          <a:p>
            <a:pPr algn="l">
              <a:lnSpc>
                <a:spcPts val="3096"/>
              </a:lnSpc>
            </a:pPr>
            <a:r>
              <a:rPr lang="en-US" sz="2382">
                <a:solidFill>
                  <a:srgbClr val="2B2B2B"/>
                </a:solidFill>
                <a:latin typeface="Garet"/>
                <a:ea typeface="Garet"/>
                <a:cs typeface="Garet"/>
                <a:sym typeface="Garet"/>
              </a:rPr>
              <a:t>Sharath M</a:t>
            </a:r>
          </a:p>
          <a:p>
            <a:pPr algn="l">
              <a:lnSpc>
                <a:spcPts val="3096"/>
              </a:lnSpc>
            </a:pPr>
            <a:r>
              <a:rPr lang="en-US" sz="2382">
                <a:solidFill>
                  <a:srgbClr val="2B2B2B"/>
                </a:solidFill>
                <a:latin typeface="Garet"/>
                <a:ea typeface="Garet"/>
                <a:cs typeface="Garet"/>
                <a:sym typeface="Garet"/>
              </a:rPr>
              <a:t>Spoorthi A G</a:t>
            </a:r>
          </a:p>
          <a:p>
            <a:pPr algn="l">
              <a:lnSpc>
                <a:spcPts val="3096"/>
              </a:lnSpc>
            </a:pPr>
            <a:r>
              <a:rPr lang="en-US" sz="2382">
                <a:solidFill>
                  <a:srgbClr val="2B2B2B"/>
                </a:solidFill>
                <a:latin typeface="Garet"/>
                <a:ea typeface="Garet"/>
                <a:cs typeface="Garet"/>
                <a:sym typeface="Garet"/>
              </a:rPr>
              <a:t>Sneha B</a:t>
            </a:r>
          </a:p>
          <a:p>
            <a:pPr algn="l" marL="0" indent="0" lvl="0">
              <a:lnSpc>
                <a:spcPts val="3096"/>
              </a:lnSpc>
              <a:spcBef>
                <a:spcPct val="0"/>
              </a:spcBef>
            </a:pPr>
            <a:r>
              <a:rPr lang="en-US" sz="2382">
                <a:solidFill>
                  <a:srgbClr val="2B2B2B"/>
                </a:solidFill>
                <a:latin typeface="Garet"/>
                <a:ea typeface="Garet"/>
                <a:cs typeface="Garet"/>
                <a:sym typeface="Garet"/>
              </a:rPr>
              <a:t>Preethi Kumari</a:t>
            </a:r>
          </a:p>
        </p:txBody>
      </p:sp>
      <p:sp>
        <p:nvSpPr>
          <p:cNvPr name="TextBox 7" id="7"/>
          <p:cNvSpPr txBox="true"/>
          <p:nvPr/>
        </p:nvSpPr>
        <p:spPr>
          <a:xfrm rot="0">
            <a:off x="1968701" y="990600"/>
            <a:ext cx="4321082" cy="621030"/>
          </a:xfrm>
          <a:prstGeom prst="rect">
            <a:avLst/>
          </a:prstGeom>
        </p:spPr>
        <p:txBody>
          <a:bodyPr anchor="t" rtlCol="false" tIns="0" lIns="0" bIns="0" rIns="0">
            <a:spAutoFit/>
          </a:bodyPr>
          <a:lstStyle/>
          <a:p>
            <a:pPr algn="l">
              <a:lnSpc>
                <a:spcPts val="2520"/>
              </a:lnSpc>
            </a:pPr>
            <a:r>
              <a:rPr lang="en-US" sz="1800">
                <a:solidFill>
                  <a:srgbClr val="545454"/>
                </a:solidFill>
                <a:latin typeface="Garet Light"/>
                <a:ea typeface="Garet Light"/>
                <a:cs typeface="Garet Light"/>
                <a:sym typeface="Garet Light"/>
              </a:rPr>
              <a:t>Fresher Profiles Private Limited </a:t>
            </a:r>
          </a:p>
          <a:p>
            <a:pPr algn="l">
              <a:lnSpc>
                <a:spcPts val="2520"/>
              </a:lnSpc>
            </a:pPr>
            <a:r>
              <a:rPr lang="en-US" sz="1800">
                <a:solidFill>
                  <a:srgbClr val="545454"/>
                </a:solidFill>
                <a:latin typeface="Garet Light"/>
                <a:ea typeface="Garet Light"/>
                <a:cs typeface="Garet Light"/>
                <a:sym typeface="Garet Light"/>
              </a:rPr>
              <a:t>19/04/2026</a:t>
            </a:r>
          </a:p>
        </p:txBody>
      </p:sp>
      <p:sp>
        <p:nvSpPr>
          <p:cNvPr name="TextBox 8" id="8"/>
          <p:cNvSpPr txBox="true"/>
          <p:nvPr/>
        </p:nvSpPr>
        <p:spPr>
          <a:xfrm rot="0">
            <a:off x="6787091" y="2040255"/>
            <a:ext cx="10773446" cy="4457288"/>
          </a:xfrm>
          <a:prstGeom prst="rect">
            <a:avLst/>
          </a:prstGeom>
        </p:spPr>
        <p:txBody>
          <a:bodyPr anchor="t" rtlCol="false" tIns="0" lIns="0" bIns="0" rIns="0">
            <a:spAutoFit/>
          </a:bodyPr>
          <a:lstStyle/>
          <a:p>
            <a:pPr algn="r" marL="0" indent="0" lvl="0">
              <a:lnSpc>
                <a:spcPts val="8490"/>
              </a:lnSpc>
              <a:spcBef>
                <a:spcPct val="0"/>
              </a:spcBef>
            </a:pPr>
            <a:r>
              <a:rPr lang="en-US" sz="10885" spc="-859">
                <a:solidFill>
                  <a:srgbClr val="000000"/>
                </a:solidFill>
                <a:latin typeface="Archivo Black"/>
                <a:ea typeface="Archivo Black"/>
                <a:cs typeface="Archivo Black"/>
                <a:sym typeface="Archivo Black"/>
              </a:rPr>
              <a:t>FACTORY SAFETY VOICE DETECTION SYSYTEM</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0E8DB"/>
        </a:solidFill>
      </p:bgPr>
    </p:bg>
    <p:spTree>
      <p:nvGrpSpPr>
        <p:cNvPr id="1" name=""/>
        <p:cNvGrpSpPr/>
        <p:nvPr/>
      </p:nvGrpSpPr>
      <p:grpSpPr>
        <a:xfrm>
          <a:off x="0" y="0"/>
          <a:ext cx="0" cy="0"/>
          <a:chOff x="0" y="0"/>
          <a:chExt cx="0" cy="0"/>
        </a:xfrm>
      </p:grpSpPr>
      <p:sp>
        <p:nvSpPr>
          <p:cNvPr name="TextBox 2" id="2"/>
          <p:cNvSpPr txBox="true"/>
          <p:nvPr/>
        </p:nvSpPr>
        <p:spPr>
          <a:xfrm rot="0">
            <a:off x="0" y="-161925"/>
            <a:ext cx="18288000" cy="1395190"/>
          </a:xfrm>
          <a:prstGeom prst="rect">
            <a:avLst/>
          </a:prstGeom>
        </p:spPr>
        <p:txBody>
          <a:bodyPr anchor="t" rtlCol="false" tIns="0" lIns="0" bIns="0" rIns="0">
            <a:spAutoFit/>
          </a:bodyPr>
          <a:lstStyle/>
          <a:p>
            <a:pPr algn="ctr">
              <a:lnSpc>
                <a:spcPts val="11385"/>
              </a:lnSpc>
            </a:pPr>
            <a:r>
              <a:rPr lang="en-US" sz="8132" b="true">
                <a:solidFill>
                  <a:srgbClr val="000000"/>
                </a:solidFill>
                <a:latin typeface="Canva Sans Bold"/>
                <a:ea typeface="Canva Sans Bold"/>
                <a:cs typeface="Canva Sans Bold"/>
                <a:sym typeface="Canva Sans Bold"/>
              </a:rPr>
              <a:t>Problem</a:t>
            </a:r>
            <a:r>
              <a:rPr lang="en-US" b="true" sz="8132">
                <a:solidFill>
                  <a:srgbClr val="000000"/>
                </a:solidFill>
                <a:latin typeface="Canva Sans Bold"/>
                <a:ea typeface="Canva Sans Bold"/>
                <a:cs typeface="Canva Sans Bold"/>
                <a:sym typeface="Canva Sans Bold"/>
              </a:rPr>
              <a:t> Statement </a:t>
            </a:r>
          </a:p>
        </p:txBody>
      </p:sp>
      <p:sp>
        <p:nvSpPr>
          <p:cNvPr name="TextBox 3" id="3"/>
          <p:cNvSpPr txBox="true"/>
          <p:nvPr/>
        </p:nvSpPr>
        <p:spPr>
          <a:xfrm rot="0">
            <a:off x="846516" y="1458045"/>
            <a:ext cx="16594968" cy="3580765"/>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Industrial environments operate under constant noise, restricted mobility, and time-critical risk conditions where traditional safety systems often fail to respond instantly. Workers cannot always access manual alert systems, leading to delayed emergency reporting and increased hazard severity. This project introduces a real-time, voice-driven safety system designed to detect critical commands such as “help”, “fire”, and “stop” even in high-noise environments.</a:t>
            </a:r>
          </a:p>
        </p:txBody>
      </p:sp>
      <p:sp>
        <p:nvSpPr>
          <p:cNvPr name="TextBox 4" id="4"/>
          <p:cNvSpPr txBox="true"/>
          <p:nvPr/>
        </p:nvSpPr>
        <p:spPr>
          <a:xfrm rot="0">
            <a:off x="6301662" y="5110588"/>
            <a:ext cx="5362575" cy="1394452"/>
          </a:xfrm>
          <a:prstGeom prst="rect">
            <a:avLst/>
          </a:prstGeom>
        </p:spPr>
        <p:txBody>
          <a:bodyPr anchor="t" rtlCol="false" tIns="0" lIns="0" bIns="0" rIns="0">
            <a:spAutoFit/>
          </a:bodyPr>
          <a:lstStyle/>
          <a:p>
            <a:pPr algn="ctr">
              <a:lnSpc>
                <a:spcPts val="11340"/>
              </a:lnSpc>
            </a:pPr>
            <a:r>
              <a:rPr lang="en-US" sz="8100" b="true">
                <a:solidFill>
                  <a:srgbClr val="000000"/>
                </a:solidFill>
                <a:latin typeface="Canva Sans Bold"/>
                <a:ea typeface="Canva Sans Bold"/>
                <a:cs typeface="Canva Sans Bold"/>
                <a:sym typeface="Canva Sans Bold"/>
              </a:rPr>
              <a:t>Objectives</a:t>
            </a:r>
          </a:p>
        </p:txBody>
      </p:sp>
      <p:sp>
        <p:nvSpPr>
          <p:cNvPr name="TextBox 5" id="5"/>
          <p:cNvSpPr txBox="true"/>
          <p:nvPr/>
        </p:nvSpPr>
        <p:spPr>
          <a:xfrm rot="0">
            <a:off x="846516" y="6700643"/>
            <a:ext cx="16877809" cy="2204720"/>
          </a:xfrm>
          <a:prstGeom prst="rect">
            <a:avLst/>
          </a:prstGeom>
        </p:spPr>
        <p:txBody>
          <a:bodyPr anchor="t" rtlCol="false" tIns="0" lIns="0" bIns="0" rIns="0">
            <a:spAutoFit/>
          </a:bodyPr>
          <a:lstStyle/>
          <a:p>
            <a:pPr algn="l" marL="734059" indent="-367030" lvl="1">
              <a:lnSpc>
                <a:spcPts val="4419"/>
              </a:lnSpc>
              <a:buFont typeface="Arial"/>
              <a:buChar char="•"/>
            </a:pPr>
            <a:r>
              <a:rPr lang="en-US" sz="3399">
                <a:solidFill>
                  <a:srgbClr val="000000"/>
                </a:solidFill>
                <a:latin typeface="Garet"/>
                <a:ea typeface="Garet"/>
                <a:cs typeface="Garet"/>
                <a:sym typeface="Garet"/>
              </a:rPr>
              <a:t> The objective is to enable hands-free emergency reporting</a:t>
            </a:r>
          </a:p>
          <a:p>
            <a:pPr algn="l" marL="734059" indent="-367030" lvl="1">
              <a:lnSpc>
                <a:spcPts val="4419"/>
              </a:lnSpc>
              <a:buFont typeface="Arial"/>
              <a:buChar char="•"/>
            </a:pPr>
            <a:r>
              <a:rPr lang="en-US" sz="3399">
                <a:solidFill>
                  <a:srgbClr val="000000"/>
                </a:solidFill>
                <a:latin typeface="Garet"/>
                <a:ea typeface="Garet"/>
                <a:cs typeface="Garet"/>
                <a:sym typeface="Garet"/>
              </a:rPr>
              <a:t> Improve response time</a:t>
            </a:r>
          </a:p>
          <a:p>
            <a:pPr algn="l" marL="734059" indent="-367030" lvl="1">
              <a:lnSpc>
                <a:spcPts val="4419"/>
              </a:lnSpc>
              <a:buFont typeface="Arial"/>
              <a:buChar char="•"/>
            </a:pPr>
            <a:r>
              <a:rPr lang="en-US" sz="3399">
                <a:solidFill>
                  <a:srgbClr val="000000"/>
                </a:solidFill>
                <a:latin typeface="Garet"/>
                <a:ea typeface="Garet"/>
                <a:cs typeface="Garet"/>
                <a:sym typeface="Garet"/>
              </a:rPr>
              <a:t> Enhance industrial safety through intelligent</a:t>
            </a:r>
          </a:p>
          <a:p>
            <a:pPr algn="l" marL="734059" indent="-367030" lvl="1">
              <a:lnSpc>
                <a:spcPts val="4419"/>
              </a:lnSpc>
              <a:buFont typeface="Arial"/>
              <a:buChar char="•"/>
            </a:pPr>
            <a:r>
              <a:rPr lang="en-US" sz="3399">
                <a:solidFill>
                  <a:srgbClr val="000000"/>
                </a:solidFill>
                <a:latin typeface="Garet"/>
                <a:ea typeface="Garet"/>
                <a:cs typeface="Garet"/>
                <a:sym typeface="Garet"/>
              </a:rPr>
              <a:t> context-aware decision-making.</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0E8DB"/>
        </a:solidFill>
      </p:bgPr>
    </p:bg>
    <p:spTree>
      <p:nvGrpSpPr>
        <p:cNvPr id="1" name=""/>
        <p:cNvGrpSpPr/>
        <p:nvPr/>
      </p:nvGrpSpPr>
      <p:grpSpPr>
        <a:xfrm>
          <a:off x="0" y="0"/>
          <a:ext cx="0" cy="0"/>
          <a:chOff x="0" y="0"/>
          <a:chExt cx="0" cy="0"/>
        </a:xfrm>
      </p:grpSpPr>
      <p:sp>
        <p:nvSpPr>
          <p:cNvPr name="TextBox 2" id="2"/>
          <p:cNvSpPr txBox="true"/>
          <p:nvPr/>
        </p:nvSpPr>
        <p:spPr>
          <a:xfrm rot="0">
            <a:off x="5333047" y="-13458"/>
            <a:ext cx="7621905" cy="1566544"/>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Methodology</a:t>
            </a:r>
          </a:p>
        </p:txBody>
      </p:sp>
      <p:sp>
        <p:nvSpPr>
          <p:cNvPr name="TextBox 3" id="3"/>
          <p:cNvSpPr txBox="true"/>
          <p:nvPr/>
        </p:nvSpPr>
        <p:spPr>
          <a:xfrm rot="0">
            <a:off x="9139238" y="4819967"/>
            <a:ext cx="9525" cy="580390"/>
          </a:xfrm>
          <a:prstGeom prst="rect">
            <a:avLst/>
          </a:prstGeom>
        </p:spPr>
        <p:txBody>
          <a:bodyPr anchor="t" rtlCol="false" tIns="0" lIns="0" bIns="0" rIns="0">
            <a:spAutoFit/>
          </a:bodyPr>
          <a:lstStyle/>
          <a:p>
            <a:pPr algn="ctr">
              <a:lnSpc>
                <a:spcPts val="4759"/>
              </a:lnSpc>
            </a:pPr>
          </a:p>
        </p:txBody>
      </p:sp>
      <p:sp>
        <p:nvSpPr>
          <p:cNvPr name="TextBox 4" id="4"/>
          <p:cNvSpPr txBox="true"/>
          <p:nvPr/>
        </p:nvSpPr>
        <p:spPr>
          <a:xfrm rot="0">
            <a:off x="-4762" y="1864687"/>
            <a:ext cx="16733882" cy="1749425"/>
          </a:xfrm>
          <a:prstGeom prst="rect">
            <a:avLst/>
          </a:prstGeom>
        </p:spPr>
        <p:txBody>
          <a:bodyPr anchor="t" rtlCol="false" tIns="0" lIns="0" bIns="0" rIns="0">
            <a:spAutoFit/>
          </a:bodyPr>
          <a:lstStyle/>
          <a:p>
            <a:pPr algn="l">
              <a:lnSpc>
                <a:spcPts val="7000"/>
              </a:lnSpc>
            </a:pPr>
            <a:r>
              <a:rPr lang="en-US" sz="5000">
                <a:solidFill>
                  <a:srgbClr val="000000"/>
                </a:solidFill>
                <a:latin typeface="Canva Sans"/>
                <a:ea typeface="Canva Sans"/>
                <a:cs typeface="Canva Sans"/>
                <a:sym typeface="Canva Sans"/>
              </a:rPr>
              <a:t>The system follows a real-time audio intelligence pipeline:</a:t>
            </a:r>
          </a:p>
        </p:txBody>
      </p:sp>
      <p:sp>
        <p:nvSpPr>
          <p:cNvPr name="TextBox 5" id="5"/>
          <p:cNvSpPr txBox="true"/>
          <p:nvPr/>
        </p:nvSpPr>
        <p:spPr>
          <a:xfrm rot="0">
            <a:off x="2675237" y="3672485"/>
            <a:ext cx="14123670" cy="4442473"/>
          </a:xfrm>
          <a:prstGeom prst="rect">
            <a:avLst/>
          </a:prstGeom>
        </p:spPr>
        <p:txBody>
          <a:bodyPr anchor="t" rtlCol="false" tIns="0" lIns="0" bIns="0" rIns="0">
            <a:spAutoFit/>
          </a:bodyPr>
          <a:lstStyle/>
          <a:p>
            <a:pPr algn="l" marL="777133" indent="-388567" lvl="1">
              <a:lnSpc>
                <a:spcPts val="5039"/>
              </a:lnSpc>
              <a:buFont typeface="Arial"/>
              <a:buChar char="•"/>
            </a:pPr>
            <a:r>
              <a:rPr lang="en-US" sz="3599" i="true">
                <a:solidFill>
                  <a:srgbClr val="000000"/>
                </a:solidFill>
                <a:latin typeface="Canva Sans Italics"/>
                <a:ea typeface="Canva Sans Italics"/>
                <a:cs typeface="Canva Sans Italics"/>
                <a:sym typeface="Canva Sans Italics"/>
              </a:rPr>
              <a:t>Continuous audio capture from factory environment</a:t>
            </a:r>
          </a:p>
          <a:p>
            <a:pPr algn="l" marL="777133" indent="-388567" lvl="1">
              <a:lnSpc>
                <a:spcPts val="5039"/>
              </a:lnSpc>
              <a:buFont typeface="Arial"/>
              <a:buChar char="•"/>
            </a:pPr>
            <a:r>
              <a:rPr lang="en-US" sz="3599" i="true">
                <a:solidFill>
                  <a:srgbClr val="000000"/>
                </a:solidFill>
                <a:latin typeface="Canva Sans Italics"/>
                <a:ea typeface="Canva Sans Italics"/>
                <a:cs typeface="Canva Sans Italics"/>
                <a:sym typeface="Canva Sans Italics"/>
              </a:rPr>
              <a:t>Voice Activity Detection (VAD) isolates speech</a:t>
            </a:r>
          </a:p>
          <a:p>
            <a:pPr algn="l" marL="777133" indent="-388567" lvl="1">
              <a:lnSpc>
                <a:spcPts val="5039"/>
              </a:lnSpc>
              <a:buFont typeface="Arial"/>
              <a:buChar char="•"/>
            </a:pPr>
            <a:r>
              <a:rPr lang="en-US" sz="3599" i="true">
                <a:solidFill>
                  <a:srgbClr val="000000"/>
                </a:solidFill>
                <a:latin typeface="Canva Sans Italics"/>
                <a:ea typeface="Canva Sans Italics"/>
                <a:cs typeface="Canva Sans Italics"/>
                <a:sym typeface="Canva Sans Italics"/>
              </a:rPr>
              <a:t>Noise reduction using spectral subtraction &amp; Wiener filtering</a:t>
            </a:r>
          </a:p>
          <a:p>
            <a:pPr algn="l" marL="777133" indent="-388567" lvl="1">
              <a:lnSpc>
                <a:spcPts val="5039"/>
              </a:lnSpc>
              <a:buFont typeface="Arial"/>
              <a:buChar char="•"/>
            </a:pPr>
            <a:r>
              <a:rPr lang="en-US" sz="3599" i="true">
                <a:solidFill>
                  <a:srgbClr val="000000"/>
                </a:solidFill>
                <a:latin typeface="Canva Sans Italics"/>
                <a:ea typeface="Canva Sans Italics"/>
                <a:cs typeface="Canva Sans Italics"/>
                <a:sym typeface="Canva Sans Italics"/>
              </a:rPr>
              <a:t>Feature extraction via Log-Mel spectrograms</a:t>
            </a:r>
          </a:p>
          <a:p>
            <a:pPr algn="l" marL="777133" indent="-388567" lvl="1">
              <a:lnSpc>
                <a:spcPts val="5039"/>
              </a:lnSpc>
              <a:buFont typeface="Arial"/>
              <a:buChar char="•"/>
            </a:pPr>
            <a:r>
              <a:rPr lang="en-US" sz="3599" i="true">
                <a:solidFill>
                  <a:srgbClr val="000000"/>
                </a:solidFill>
                <a:latin typeface="Canva Sans Italics"/>
                <a:ea typeface="Canva Sans Italics"/>
                <a:cs typeface="Canva Sans Italics"/>
                <a:sym typeface="Canva Sans Italics"/>
              </a:rPr>
              <a:t>DS-CNN model performs keyword classification</a:t>
            </a:r>
          </a:p>
          <a:p>
            <a:pPr algn="l" marL="777133" indent="-388567" lvl="1">
              <a:lnSpc>
                <a:spcPts val="5039"/>
              </a:lnSpc>
              <a:buFont typeface="Arial"/>
              <a:buChar char="•"/>
            </a:pPr>
            <a:r>
              <a:rPr lang="en-US" sz="3599" i="true">
                <a:solidFill>
                  <a:srgbClr val="000000"/>
                </a:solidFill>
                <a:latin typeface="Canva Sans Italics"/>
                <a:ea typeface="Canva Sans Italics"/>
                <a:cs typeface="Canva Sans Italics"/>
                <a:sym typeface="Canva Sans Italics"/>
              </a:rPr>
              <a:t>Confidence gating ensures reliable predictions</a:t>
            </a:r>
          </a:p>
          <a:p>
            <a:pPr algn="l" marL="777133" indent="-388567" lvl="1">
              <a:lnSpc>
                <a:spcPts val="5039"/>
              </a:lnSpc>
              <a:buFont typeface="Arial"/>
              <a:buChar char="•"/>
            </a:pPr>
            <a:r>
              <a:rPr lang="en-US" sz="3599" i="true">
                <a:solidFill>
                  <a:srgbClr val="000000"/>
                </a:solidFill>
                <a:latin typeface="Canva Sans Italics"/>
                <a:ea typeface="Canva Sans Italics"/>
                <a:cs typeface="Canva Sans Italics"/>
                <a:sym typeface="Canva Sans Italics"/>
              </a:rPr>
              <a:t>Agentic AI layer analyzes context and triggers alerts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0E8DB"/>
        </a:solidFill>
      </p:bgPr>
    </p:bg>
    <p:spTree>
      <p:nvGrpSpPr>
        <p:cNvPr id="1" name=""/>
        <p:cNvGrpSpPr/>
        <p:nvPr/>
      </p:nvGrpSpPr>
      <p:grpSpPr>
        <a:xfrm>
          <a:off x="0" y="0"/>
          <a:ext cx="0" cy="0"/>
          <a:chOff x="0" y="0"/>
          <a:chExt cx="0" cy="0"/>
        </a:xfrm>
      </p:grpSpPr>
      <p:sp>
        <p:nvSpPr>
          <p:cNvPr name="Freeform 2" id="2"/>
          <p:cNvSpPr/>
          <p:nvPr/>
        </p:nvSpPr>
        <p:spPr>
          <a:xfrm flipH="false" flipV="false" rot="0">
            <a:off x="552637" y="2465075"/>
            <a:ext cx="17280456" cy="7821925"/>
          </a:xfrm>
          <a:custGeom>
            <a:avLst/>
            <a:gdLst/>
            <a:ahLst/>
            <a:cxnLst/>
            <a:rect r="r" b="b" t="t" l="l"/>
            <a:pathLst>
              <a:path h="7821925" w="17280456">
                <a:moveTo>
                  <a:pt x="0" y="0"/>
                </a:moveTo>
                <a:lnTo>
                  <a:pt x="17280456" y="0"/>
                </a:lnTo>
                <a:lnTo>
                  <a:pt x="17280456" y="7821925"/>
                </a:lnTo>
                <a:lnTo>
                  <a:pt x="0" y="7821925"/>
                </a:lnTo>
                <a:lnTo>
                  <a:pt x="0" y="0"/>
                </a:lnTo>
                <a:close/>
              </a:path>
            </a:pathLst>
          </a:custGeom>
          <a:blipFill>
            <a:blip r:embed="rId2"/>
            <a:stretch>
              <a:fillRect l="0" t="-23569" r="0" b="-23569"/>
            </a:stretch>
          </a:blipFill>
        </p:spPr>
      </p:sp>
      <p:sp>
        <p:nvSpPr>
          <p:cNvPr name="Freeform 3" id="3"/>
          <p:cNvSpPr/>
          <p:nvPr/>
        </p:nvSpPr>
        <p:spPr>
          <a:xfrm flipH="false" flipV="false" rot="0">
            <a:off x="0" y="2229682"/>
            <a:ext cx="18159593" cy="8415218"/>
          </a:xfrm>
          <a:custGeom>
            <a:avLst/>
            <a:gdLst/>
            <a:ahLst/>
            <a:cxnLst/>
            <a:rect r="r" b="b" t="t" l="l"/>
            <a:pathLst>
              <a:path h="8415218" w="18159593">
                <a:moveTo>
                  <a:pt x="0" y="0"/>
                </a:moveTo>
                <a:lnTo>
                  <a:pt x="18159593" y="0"/>
                </a:lnTo>
                <a:lnTo>
                  <a:pt x="18159593" y="8415219"/>
                </a:lnTo>
                <a:lnTo>
                  <a:pt x="0" y="8415219"/>
                </a:lnTo>
                <a:lnTo>
                  <a:pt x="0" y="0"/>
                </a:lnTo>
                <a:close/>
              </a:path>
            </a:pathLst>
          </a:custGeom>
          <a:blipFill>
            <a:blip r:embed="rId3"/>
            <a:stretch>
              <a:fillRect l="0" t="-22021" r="0" b="-22021"/>
            </a:stretch>
          </a:blipFill>
        </p:spPr>
      </p:sp>
      <p:sp>
        <p:nvSpPr>
          <p:cNvPr name="TextBox 4" id="4"/>
          <p:cNvSpPr txBox="true"/>
          <p:nvPr/>
        </p:nvSpPr>
        <p:spPr>
          <a:xfrm rot="0">
            <a:off x="3293566" y="159703"/>
            <a:ext cx="11700867" cy="1566544"/>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System Architecture</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0E8DB"/>
        </a:solidFill>
      </p:bgPr>
    </p:bg>
    <p:spTree>
      <p:nvGrpSpPr>
        <p:cNvPr id="1" name=""/>
        <p:cNvGrpSpPr/>
        <p:nvPr/>
      </p:nvGrpSpPr>
      <p:grpSpPr>
        <a:xfrm>
          <a:off x="0" y="0"/>
          <a:ext cx="0" cy="0"/>
          <a:chOff x="0" y="0"/>
          <a:chExt cx="0" cy="0"/>
        </a:xfrm>
      </p:grpSpPr>
      <p:sp>
        <p:nvSpPr>
          <p:cNvPr name="TextBox 2" id="2"/>
          <p:cNvSpPr txBox="true"/>
          <p:nvPr/>
        </p:nvSpPr>
        <p:spPr>
          <a:xfrm rot="0">
            <a:off x="3476825" y="159703"/>
            <a:ext cx="11709440" cy="1566544"/>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Results &amp; Innovation</a:t>
            </a:r>
          </a:p>
        </p:txBody>
      </p:sp>
      <p:sp>
        <p:nvSpPr>
          <p:cNvPr name="TextBox 3" id="3"/>
          <p:cNvSpPr txBox="true"/>
          <p:nvPr/>
        </p:nvSpPr>
        <p:spPr>
          <a:xfrm rot="0">
            <a:off x="986208" y="2404497"/>
            <a:ext cx="16230600" cy="5999024"/>
          </a:xfrm>
          <a:prstGeom prst="rect">
            <a:avLst/>
          </a:prstGeom>
        </p:spPr>
        <p:txBody>
          <a:bodyPr anchor="t" rtlCol="false" tIns="0" lIns="0" bIns="0" rIns="0">
            <a:spAutoFit/>
          </a:bodyPr>
          <a:lstStyle/>
          <a:p>
            <a:pPr algn="ctr">
              <a:lnSpc>
                <a:spcPts val="4782"/>
              </a:lnSpc>
            </a:pPr>
          </a:p>
          <a:p>
            <a:pPr algn="ctr">
              <a:lnSpc>
                <a:spcPts val="4782"/>
              </a:lnSpc>
            </a:pPr>
            <a:r>
              <a:rPr lang="en-US" sz="3415">
                <a:solidFill>
                  <a:srgbClr val="000000"/>
                </a:solidFill>
                <a:latin typeface="Canva Sans"/>
                <a:ea typeface="Canva Sans"/>
                <a:cs typeface="Canva Sans"/>
                <a:sym typeface="Canva Sans"/>
              </a:rPr>
              <a:t>The system demonstrates strong performance in detecting safety-critical commands even under high background noise conditions. The integration of noise reduction and Log-Mel feature extraction significantly enhances accuracy, while the DS-CNN model ensures efficient real-time inference.</a:t>
            </a:r>
          </a:p>
          <a:p>
            <a:pPr algn="ctr">
              <a:lnSpc>
                <a:spcPts val="4782"/>
              </a:lnSpc>
            </a:pPr>
          </a:p>
          <a:p>
            <a:pPr algn="ctr">
              <a:lnSpc>
                <a:spcPts val="4782"/>
              </a:lnSpc>
            </a:pPr>
            <a:r>
              <a:rPr lang="en-US" sz="3415">
                <a:solidFill>
                  <a:srgbClr val="000000"/>
                </a:solidFill>
                <a:latin typeface="Canva Sans"/>
                <a:ea typeface="Canva Sans"/>
                <a:cs typeface="Canva Sans"/>
                <a:sym typeface="Canva Sans"/>
              </a:rPr>
              <a:t>The key innovation lies in the Agentic AI alert layer, which enables context-aware decision-making by analyzing multiple parameters such as confidence score, noise level, and location. This allows intelligent alert generation rather than simple detection.</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0E8DB"/>
        </a:solidFill>
      </p:bgPr>
    </p:bg>
    <p:spTree>
      <p:nvGrpSpPr>
        <p:cNvPr id="1" name=""/>
        <p:cNvGrpSpPr/>
        <p:nvPr/>
      </p:nvGrpSpPr>
      <p:grpSpPr>
        <a:xfrm>
          <a:off x="0" y="0"/>
          <a:ext cx="0" cy="0"/>
          <a:chOff x="0" y="0"/>
          <a:chExt cx="0" cy="0"/>
        </a:xfrm>
      </p:grpSpPr>
      <p:sp>
        <p:nvSpPr>
          <p:cNvPr name="TextBox 2" id="2"/>
          <p:cNvSpPr txBox="true"/>
          <p:nvPr/>
        </p:nvSpPr>
        <p:spPr>
          <a:xfrm rot="0">
            <a:off x="4695507" y="3339936"/>
            <a:ext cx="8896985" cy="2383301"/>
          </a:xfrm>
          <a:prstGeom prst="rect">
            <a:avLst/>
          </a:prstGeom>
        </p:spPr>
        <p:txBody>
          <a:bodyPr anchor="t" rtlCol="false" tIns="0" lIns="0" bIns="0" rIns="0">
            <a:spAutoFit/>
          </a:bodyPr>
          <a:lstStyle/>
          <a:p>
            <a:pPr algn="ctr">
              <a:lnSpc>
                <a:spcPts val="19543"/>
              </a:lnSpc>
            </a:pPr>
            <a:r>
              <a:rPr lang="en-US" sz="13959" b="true">
                <a:solidFill>
                  <a:srgbClr val="000000"/>
                </a:solidFill>
                <a:latin typeface="Canva Sans Bold"/>
                <a:ea typeface="Canva Sans Bold"/>
                <a:cs typeface="Canva Sans Bold"/>
                <a:sym typeface="Canva Sa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DAHHHj42CeQ</dc:identifier>
  <dcterms:modified xsi:type="dcterms:W3CDTF">2011-08-01T06:04:30Z</dcterms:modified>
  <cp:revision>1</cp:revision>
  <dc:title>Fresher Profiles Private Limited 19/04/2026</dc:title>
</cp:coreProperties>
</file>